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Entity Resolution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4EBF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14.7</c:v>
                </c:pt>
                <c:pt idx="1">
                  <c:v>85.3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Relation Confidence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4EBF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Community Coherence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4EBF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94</c:v>
                </c:pt>
                <c:pt idx="1">
                  <c:v>6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Orphan Rate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4EBF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274320"/>
            <a:ext cx="2377440" cy="2377440"/>
          </a:xfrm>
          <a:prstGeom prst="ellipse">
            <a:avLst/>
          </a:prstGeom>
          <a:solidFill>
            <a:srgbClr val="0096B4">
              <a:alpha val="12000"/>
            </a:srgbClr>
          </a:solidFill>
          <a:ln w="6350">
            <a:solidFill>
              <a:srgbClr val="00B4D8">
                <a:alpha val="1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1097280"/>
            <a:ext cx="1828800" cy="1828800"/>
          </a:xfrm>
          <a:prstGeom prst="ellipse">
            <a:avLst/>
          </a:prstGeom>
          <a:solidFill>
            <a:srgbClr val="0096B4">
              <a:alpha val="18000"/>
            </a:srgbClr>
          </a:solidFill>
          <a:ln w="6350">
            <a:solidFill>
              <a:srgbClr val="00B4D8">
                <a:alpha val="2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645920"/>
            <a:ext cx="2743200" cy="2743200"/>
          </a:xfrm>
          <a:prstGeom prst="ellipse">
            <a:avLst/>
          </a:prstGeom>
          <a:solidFill>
            <a:srgbClr val="0096B4">
              <a:alpha val="8000"/>
            </a:srgbClr>
          </a:solidFill>
          <a:ln w="6350">
            <a:solidFill>
              <a:srgbClr val="00B4D8">
                <a:alpha val="1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2286000"/>
            <a:ext cx="1371600" cy="1371600"/>
          </a:xfrm>
          <a:prstGeom prst="ellipse">
            <a:avLst/>
          </a:prstGeom>
          <a:solidFill>
            <a:srgbClr val="0096B4">
              <a:alpha val="22000"/>
            </a:srgbClr>
          </a:solidFill>
          <a:ln w="6350">
            <a:solidFill>
              <a:srgbClr val="00B4D8">
                <a:alpha val="2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914400"/>
            <a:ext cx="128016" cy="128016"/>
          </a:xfrm>
          <a:prstGeom prst="ellipse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2194560"/>
            <a:ext cx="128016" cy="128016"/>
          </a:xfrm>
          <a:prstGeom prst="ellipse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0" y="2743200"/>
            <a:ext cx="128016" cy="128016"/>
          </a:xfrm>
          <a:prstGeom prst="ellipse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3200400"/>
            <a:ext cx="128016" cy="128016"/>
          </a:xfrm>
          <a:prstGeom prst="ellipse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200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CONSULTING  ·  GRAPH RAG PLATFORM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9144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for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65760" y="1719072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Intelligence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65760" y="2724912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Knowledge Graph Platform  ·  Built for Client Delivery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5760" y="44622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Sergiu  |  Graph RAG Engineer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63440" y="44622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github.com/sergiunicoara/Generative-AI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" cy="292608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AI Fails Enterprise Knowledge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060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260604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642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at Scale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2011680"/>
            <a:ext cx="2286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invent facts when knowledge is complex, contradictory or spread across hundreds of documents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6060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508760"/>
            <a:ext cx="260604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16642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Reasoning Chain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10712" y="2011680"/>
            <a:ext cx="2286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trace logic across connected entities — a contract links to a regulation links to a company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508760"/>
            <a:ext cx="26060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508760"/>
            <a:ext cx="260604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6642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99632" y="2011680"/>
            <a:ext cx="2286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in regulated industries need to know exactly where an answer came from and who authorised it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8229600" cy="658368"/>
          </a:xfrm>
          <a:prstGeom prst="rect">
            <a:avLst/>
          </a:prstGeom>
          <a:solidFill>
            <a:srgbClr val="0F1F47"/>
          </a:solidFill>
          <a:ln w="12700">
            <a:solidFill>
              <a:srgbClr val="0F1F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02336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in banking, regulatory, and audit need explainable, traceable, contradiction-free AI answers — not black boxes.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" cy="292608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Layers. One Coherent System.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06040" cy="3337560"/>
          </a:xfrm>
          <a:prstGeom prst="rect">
            <a:avLst/>
          </a:prstGeom>
          <a:solidFill>
            <a:srgbClr val="0F1F47"/>
          </a:solidFill>
          <a:ln w="12700">
            <a:solidFill>
              <a:srgbClr val="0F1F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06040" cy="64008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727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21792" y="1956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5.x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" y="2286000"/>
            <a:ext cx="2377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 (4-stage)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enforcement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Forward-chaining inference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detection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Bitemporal modeling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63240" y="2999232"/>
            <a:ext cx="201168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2862072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06040" cy="3337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417320"/>
            <a:ext cx="2606040" cy="64008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15727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Pipeline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10712" y="1956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hybrid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10712" y="2286000"/>
            <a:ext cx="2377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ANN (3072d OpenAI)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RRF fusion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graph traversal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GAT/GCN GNN scoring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52160" y="2999232"/>
            <a:ext cx="201168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2862072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›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1417320"/>
            <a:ext cx="2606040" cy="3337560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417320"/>
            <a:ext cx="2606040" cy="64008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15727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199632" y="1956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+ DeepSeek fallback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99632" y="2286000"/>
            <a:ext cx="2377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Two-model IRCoT (8B + 70B)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AND-logic agentic trigger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context (Redis)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evaluation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 REST API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" cy="292608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JD Requirement — Demonstrated in Code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8229600" cy="347472"/>
          </a:xfrm>
          <a:prstGeom prst="rect">
            <a:avLst/>
          </a:prstGeom>
          <a:solidFill>
            <a:srgbClr val="0F1F47"/>
          </a:solidFill>
          <a:ln w="12700">
            <a:solidFill>
              <a:srgbClr val="0F1F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904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Requirement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86200" y="14904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 &amp; Where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792224"/>
            <a:ext cx="822960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D1D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20240"/>
            <a:ext cx="192024" cy="19202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88366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865376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+ graph-based data modeling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86200" y="18470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KG modules · 572-line neo4j_client.py · production Cypher (UNWIND, COUNT{}, vector ANN, BM25)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8229600" cy="448056"/>
          </a:xfrm>
          <a:prstGeom prst="rect">
            <a:avLst/>
          </a:prstGeom>
          <a:solidFill>
            <a:srgbClr val="EEF3FB"/>
          </a:solidFill>
          <a:ln w="3810">
            <a:solidFill>
              <a:srgbClr val="D1D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368296"/>
            <a:ext cx="192024" cy="19202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2331720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2313432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RAG patterns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86200" y="22951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pipeline: vector → BM25+RRF → reranker → multi-hop traversal → GNN → LLM synthesis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688336"/>
            <a:ext cx="822960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D1DC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816352"/>
            <a:ext cx="192024" cy="19202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2779776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27614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integration + tool invocation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86200" y="2743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llama-3.3-70b (synthesis) · llama-3.1-8b (routing) · DeepSeek-V3 fallback · agentic IRCoT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136392"/>
            <a:ext cx="8229600" cy="448056"/>
          </a:xfrm>
          <a:prstGeom prst="rect">
            <a:avLst/>
          </a:prstGeom>
          <a:solidFill>
            <a:srgbClr val="EEF3FB"/>
          </a:solidFill>
          <a:ln w="3810">
            <a:solidFill>
              <a:srgbClr val="D1DC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264408"/>
            <a:ext cx="192024" cy="19202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" y="3227832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" y="320954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+ validate MVP solutions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86200" y="31912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364 passing tests · CI/CD (GitHub Actions) · Docker multi-stage · runbook · regulatory demo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584448"/>
            <a:ext cx="822960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D1DC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712464"/>
            <a:ext cx="192024" cy="19202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" y="3675888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" y="3657600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chatbot, autonomous tools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86200" y="36393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QueryAgent + IngestionAgent + EvaluationAgent · session context · Redis result store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4032504"/>
            <a:ext cx="8229600" cy="448056"/>
          </a:xfrm>
          <a:prstGeom prst="rect">
            <a:avLst/>
          </a:prstGeom>
          <a:solidFill>
            <a:srgbClr val="EEF3FB"/>
          </a:solidFill>
          <a:ln w="3810">
            <a:solidFill>
              <a:srgbClr val="D1DC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160520"/>
            <a:ext cx="192024" cy="19202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" y="412394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" y="4105656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integration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886200" y="40873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· JWT scopes · rate limiting · per-tenant isolation · GDPR erasure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0096B4">
              <a:alpha val="10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82880"/>
            <a:ext cx="3474720" cy="3474720"/>
          </a:xfrm>
          <a:prstGeom prst="ellipse">
            <a:avLst/>
          </a:prstGeom>
          <a:solidFill>
            <a:srgbClr val="0096B4">
              <a:alpha val="15000"/>
            </a:srgbClr>
          </a:solidFill>
          <a:ln w="1016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17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7132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see: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Domain ontology loading from YAML — aerospace regulatory type hierarchy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Forward-chaining inference — AD-2024 transitively supersedes AD-2020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Contradiction detection — same aircraft IS_AIRWORTHY and IS_UNAIRWORTHY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Authority chain query — which document is the current governing authority?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Live REST API — ingest a document, query with session context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4434840"/>
            <a:ext cx="5029200" cy="320040"/>
          </a:xfrm>
          <a:prstGeom prst="rect">
            <a:avLst/>
          </a:prstGeom>
          <a:solidFill>
            <a:srgbClr val="0A1428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434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python scripts/demo_regulatory.py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" cy="292608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Claimed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920240" cy="50292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630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66928" y="193852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metrics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42032" y="1371600"/>
            <a:ext cx="1920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42032" y="1371600"/>
            <a:ext cx="1920240" cy="50292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4630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51760" y="193852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layers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26864" y="1371600"/>
            <a:ext cx="1920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1371600"/>
            <a:ext cx="1920240" cy="50292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14630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36592" y="193852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tabs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11696" y="1371600"/>
            <a:ext cx="1920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11696" y="1371600"/>
            <a:ext cx="1920240" cy="50292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21424" y="14630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21424" y="193852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 cadence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487168"/>
            <a:ext cx="3977640" cy="18836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487168"/>
            <a:ext cx="3977640" cy="50292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Quality — RAGAS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" y="28163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queries · 20% sampled · llama-3.3-70b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21792" y="309067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00400" y="30906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0.937  (answerable) · 0.842 overall  ✓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1792" y="334213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00400" y="33421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0.816  ✓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1792" y="359359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00400" y="35935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0.907  ✓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" y="384505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00400" y="38450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0.867  ✓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" y="409651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p95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00400" y="4096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s  ✓  (agentic: 3.4 s)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2487168"/>
            <a:ext cx="3977640" cy="18836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2487168"/>
            <a:ext cx="3977640" cy="50292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73752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Health + Calibration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73752" y="28163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368 entities · 422 edges · aerospace corpus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73752" y="309067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dedup rate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452360" y="30906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 (665 raw → 364 resolved)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73752" y="334213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density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452360" y="33421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28.95 /1k edges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73752" y="359359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coherence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452360" y="35935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 ✓  (55 Leiden)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73752" y="384505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 rate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452360" y="38450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 ✓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73752" y="409651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452360" y="4096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0.809  (calibrating — 48 samples)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4498848"/>
            <a:ext cx="8229600" cy="502920"/>
          </a:xfrm>
          <a:prstGeom prst="rect">
            <a:avLst/>
          </a:prstGeom>
          <a:solidFill>
            <a:srgbClr val="0F1F47"/>
          </a:solidFill>
          <a:ln w="12700">
            <a:solidFill>
              <a:srgbClr val="0F1F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85800" y="44988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operator dashboard  </a:t>
            </a:r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</a:t>
            </a:r>
            <a:pPr indent="0" marL="0">
              <a:buNone/>
            </a:pPr>
            <a:r>
              <a:rPr lang="en-US" sz="10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· Conflicts · Communities · GDPR · Calibration — branded gauges, trend lines, drill-downs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" cy="292608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Dashboard — Live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45720" cy="868680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4447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03504" y="1883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42032" y="137160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42032" y="1371600"/>
            <a:ext cx="45720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88336" y="14447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88336" y="1883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26864" y="137160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1371600"/>
            <a:ext cx="4572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4447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73168" y="1883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 EDGES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11696" y="137160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11696" y="1371600"/>
            <a:ext cx="45720" cy="868680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4447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28.9/1k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8000" y="1883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DENSITY</a:t>
            </a:r>
            <a:endParaRPr lang="en-US" sz="8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57200" y="2468880"/>
          <a:ext cx="196596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621792" y="30358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14.7%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41148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</a:t>
            </a:r>
            <a:endParaRPr lang="en-US" sz="90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2606040" y="2468880"/>
          <a:ext cx="196596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 21"/>
          <p:cNvSpPr/>
          <p:nvPr/>
        </p:nvSpPr>
        <p:spPr>
          <a:xfrm>
            <a:off x="2770632" y="30358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900" dirty="0"/>
          </a:p>
        </p:txBody>
      </p:sp>
      <p:sp>
        <p:nvSpPr>
          <p:cNvPr id="26" name="Text 22"/>
          <p:cNvSpPr/>
          <p:nvPr/>
        </p:nvSpPr>
        <p:spPr>
          <a:xfrm>
            <a:off x="256032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Confidence</a:t>
            </a:r>
            <a:endParaRPr lang="en-US" sz="900" dirty="0"/>
          </a:p>
        </p:txBody>
      </p:sp>
      <p:graphicFrame>
        <p:nvGraphicFramePr>
          <p:cNvPr id="27" name="Chart 2" descr=""/>
          <p:cNvGraphicFramePr/>
          <p:nvPr/>
        </p:nvGraphicFramePr>
        <p:xfrm>
          <a:off x="4754880" y="2468880"/>
          <a:ext cx="196596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8" name="Text 23"/>
          <p:cNvSpPr/>
          <p:nvPr/>
        </p:nvSpPr>
        <p:spPr>
          <a:xfrm>
            <a:off x="4919472" y="30358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900" dirty="0"/>
          </a:p>
        </p:txBody>
      </p:sp>
      <p:sp>
        <p:nvSpPr>
          <p:cNvPr id="29" name="Text 24"/>
          <p:cNvSpPr/>
          <p:nvPr/>
        </p:nvSpPr>
        <p:spPr>
          <a:xfrm>
            <a:off x="470916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Coherence</a:t>
            </a:r>
            <a:endParaRPr lang="en-US" sz="900" dirty="0"/>
          </a:p>
        </p:txBody>
      </p:sp>
      <p:graphicFrame>
        <p:nvGraphicFramePr>
          <p:cNvPr id="30" name="Chart 3" descr=""/>
          <p:cNvGraphicFramePr/>
          <p:nvPr/>
        </p:nvGraphicFramePr>
        <p:xfrm>
          <a:off x="6903720" y="2468880"/>
          <a:ext cx="196596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1" name="Text 25"/>
          <p:cNvSpPr/>
          <p:nvPr/>
        </p:nvSpPr>
        <p:spPr>
          <a:xfrm>
            <a:off x="7068312" y="30358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900" dirty="0"/>
          </a:p>
        </p:txBody>
      </p:sp>
      <p:sp>
        <p:nvSpPr>
          <p:cNvPr id="32" name="Text 26"/>
          <p:cNvSpPr/>
          <p:nvPr/>
        </p:nvSpPr>
        <p:spPr>
          <a:xfrm>
            <a:off x="685800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 Rate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0F1F47"/>
          </a:solidFill>
          <a:ln w="12700">
            <a:solidFill>
              <a:srgbClr val="0F1F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685800" y="4526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live during the demo at  </a:t>
            </a:r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</a:t>
            </a:r>
            <a:pPr indent="0" marL="0">
              <a:buNone/>
            </a:pPr>
            <a:r>
              <a:rPr lang="en-US" sz="10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 tabs · radial gauges · trend lines · one-click conflict resolution &amp; GDPR erasure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" cy="292608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Enterprise Client Scenarios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06040" cy="3401568"/>
          </a:xfrm>
          <a:prstGeom prst="rect">
            <a:avLst/>
          </a:prstGeom>
          <a:solidFill>
            <a:srgbClr val="0F1F47"/>
          </a:solidFill>
          <a:ln w="12700">
            <a:solidFill>
              <a:srgbClr val="0F1F4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06040" cy="64008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3619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198424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Intelligence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34086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/ Insurance clients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10,000 regulatory documents. Detect when a new directive supersedes an old one. Surface contradictions before they reach an audit. Show exactly which document mandates a given control.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315968"/>
            <a:ext cx="2423160" cy="384048"/>
          </a:xfrm>
          <a:prstGeom prst="rect">
            <a:avLst/>
          </a:prstGeom>
          <a:solidFill>
            <a:srgbClr val="0A1428"/>
          </a:solidFill>
          <a:ln w="889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33425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authority · Inference · Contradiction detection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46120" y="1417320"/>
            <a:ext cx="2606040" cy="34015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417320"/>
            <a:ext cx="2606040" cy="64008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53619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83280" y="198424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Knowledge Base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234086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Assurance teams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83280" y="26060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entities across evidence documents. Multi-hop traversal finds connections human reviewers miss. Agentic re-search iterates until an answer is grounded in source material.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37560" y="4315968"/>
            <a:ext cx="2423160" cy="384048"/>
          </a:xfrm>
          <a:prstGeom prst="rect">
            <a:avLst/>
          </a:prstGeom>
          <a:solidFill>
            <a:srgbClr val="0A1428"/>
          </a:solidFill>
          <a:ln w="889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433425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RAG · IRCoT fallback · Session context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35040" y="1417320"/>
            <a:ext cx="2606040" cy="3401568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417320"/>
            <a:ext cx="2606040" cy="64008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53619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172200" y="198424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Monitoring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72200" y="234086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Regulatory consulting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72200" y="26060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knowledge modeling tracks when facts changed. Authority-weighted confidence scores flag low-quality sources. GDPR-compliant entity erasure on request.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26480" y="4315968"/>
            <a:ext cx="2423160" cy="384048"/>
          </a:xfrm>
          <a:prstGeom prst="rect">
            <a:avLst/>
          </a:prstGeom>
          <a:solidFill>
            <a:srgbClr val="0A1428"/>
          </a:solidFill>
          <a:ln w="889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433425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Bitemporal · Confidence calibration · GDPR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" cy="292608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FOUNDATION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Production-Grade. Not a Prototype.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920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89888"/>
            <a:ext cx="1920240" cy="50292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517904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26,600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66928" y="2075688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production Python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42032" y="1389888"/>
            <a:ext cx="1920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42032" y="1389888"/>
            <a:ext cx="1920240" cy="50292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517904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364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2651760" y="2075688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tests (unit + integration)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26864" y="1389888"/>
            <a:ext cx="1920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1389888"/>
            <a:ext cx="1920240" cy="50292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1517904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4736592" y="2075688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modules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11696" y="1389888"/>
            <a:ext cx="19202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11696" y="1389888"/>
            <a:ext cx="1920240" cy="50292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21424" y="1517904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900" dirty="0"/>
          </a:p>
        </p:txBody>
      </p:sp>
      <p:sp>
        <p:nvSpPr>
          <p:cNvPr id="20" name="Text 18"/>
          <p:cNvSpPr/>
          <p:nvPr/>
        </p:nvSpPr>
        <p:spPr>
          <a:xfrm>
            <a:off x="6821424" y="2075688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ADRs: graph, inference, confidence, LLM, cache, dual-model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761488"/>
            <a:ext cx="39776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761488"/>
            <a:ext cx="3977640" cy="50292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8346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Capabilities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" y="3182112"/>
            <a:ext cx="3794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Forward-chaining inference (Datalog rules)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OWL-RL reasoning + SPARQL bridge (rdflib)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TransE link prediction + entity embeddings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Leiden community detection (graspologic)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Bitemporal: valid time + transaction time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761488"/>
            <a:ext cx="39776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761488"/>
            <a:ext cx="3977640" cy="50292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8346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Operations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82312" y="3182112"/>
            <a:ext cx="3794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Two-model IRCoT: 8B routing (0.2 s) + 70B synthesis (1.5 s) · 9% trigger rate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+ JWT + rate limiting + tenant isolation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erasure cascade + PII detection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evaluation (faithfulness, recall, precision)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Runbook, ADRs, contributing guide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-1371600"/>
            <a:ext cx="5486400" cy="5486400"/>
          </a:xfrm>
          <a:prstGeom prst="ellipse">
            <a:avLst/>
          </a:prstGeom>
          <a:solidFill>
            <a:srgbClr val="0096B4">
              <a:alpha val="18000"/>
            </a:srgbClr>
          </a:solidFill>
          <a:ln w="1016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365760"/>
            <a:ext cx="3657600" cy="3657600"/>
          </a:xfrm>
          <a:prstGeom prst="ellipse">
            <a:avLst/>
          </a:prstGeom>
          <a:solidFill>
            <a:srgbClr val="0096B4">
              <a:alpha val="22000"/>
            </a:srgbClr>
          </a:solidFill>
          <a:ln w="762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9436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DELIVER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Client Work.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64008" cy="502920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0299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Day-one delivery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0352" y="22768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platform ready — no ramp-up on fundamentals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761488"/>
            <a:ext cx="64008" cy="502920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77977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domain expertise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30352" y="30266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 compliance demo runs today; maps to banking, audit, and insurance use cases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511296"/>
            <a:ext cx="64008" cy="502920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52958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proof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0352" y="37764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verifiable in code — grep for the function, run the test, see it working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24"/>
          </a:solidFill>
          <a:ln w="12700">
            <a:solidFill>
              <a:srgbClr val="070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6908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github.com/sergiunicoara/Generative-AI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0" y="4663440"/>
            <a:ext cx="3291840" cy="480060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46908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next step?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-1371600"/>
            <a:ext cx="5486400" cy="5486400"/>
          </a:xfrm>
          <a:prstGeom prst="ellipse">
            <a:avLst/>
          </a:prstGeom>
          <a:solidFill>
            <a:srgbClr val="0096B4">
              <a:alpha val="18000"/>
            </a:srgbClr>
          </a:solidFill>
          <a:ln w="1016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182880"/>
            <a:ext cx="3474720" cy="3474720"/>
          </a:xfrm>
          <a:prstGeom prst="ellipse">
            <a:avLst/>
          </a:prstGeom>
          <a:solidFill>
            <a:srgbClr val="0096B4">
              <a:alpha val="22000"/>
            </a:srgbClr>
          </a:solidFill>
          <a:ln w="762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029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SERGIU NICOARĂ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RAG · Knowledge Graphs · LLM Orchestration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64008" cy="347472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4942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mail4sergiu@gmail.com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743200"/>
            <a:ext cx="64008" cy="347472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7977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linkedin.com/in/sergiu-nicoara-31b27013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273552"/>
            <a:ext cx="64008" cy="347472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101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github.com/sergiunicoara/Generative-AI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803904"/>
            <a:ext cx="64008" cy="347472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404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sergiunicoara.github.io/iatf-demo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6908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Timișoara, Romania  ·  Available for remote &amp; on-site engagements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GraphRAG for Enterprise Intelligence</dc:title>
  <dc:subject>PptxGenJS Presentation</dc:subject>
  <dc:creator>Sergiu</dc:creator>
  <cp:lastModifiedBy>Sergiu</cp:lastModifiedBy>
  <cp:revision>1</cp:revision>
  <dcterms:created xsi:type="dcterms:W3CDTF">2026-06-17T12:58:09Z</dcterms:created>
  <dcterms:modified xsi:type="dcterms:W3CDTF">2026-06-17T12:58:09Z</dcterms:modified>
</cp:coreProperties>
</file>